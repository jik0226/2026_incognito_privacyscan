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0"/>
            <a:ext cx="2103120" cy="6858000"/>
          </a:xfrm>
          <a:prstGeom prst="rtTriangle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0"/>
            <a:ext cx="914400" cy="6858000"/>
          </a:xfrm>
          <a:prstGeom prst="rtTriangl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91640"/>
            <a:ext cx="73152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아무도 안 읽는 8,000단어 처리방침,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AI가 법적 기준으로 점수화합니다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PrivacyScan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P</a:t>
            </a:r>
            <a:pPr indent="0" marL="0">
              <a:buNone/>
            </a:pPr>
            <a:r>
              <a:rPr lang="en-US" sz="2200" spc="100" kern="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rivacy  .  </a:t>
            </a:r>
            <a:pPr indent="0" marL="0">
              <a:buNone/>
            </a:pPr>
            <a:r>
              <a:rPr lang="en-US" sz="2200" b="1" spc="1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S</a:t>
            </a:r>
            <a:pPr indent="0" marL="0">
              <a:buNone/>
            </a:pPr>
            <a:r>
              <a:rPr lang="en-US" sz="2200" spc="100" kern="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can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처리방침의 고지 위험 신호를  5영역 · 25항목 · 100점으로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5852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아이디어톤 본선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6172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부천시 붉은악마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김주환  ·  정인겸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01  │  문제 정의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8,000</a:t>
            </a:r>
            <a:pPr algn="ctr"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 단어,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그러나 </a:t>
            </a:r>
            <a:pPr algn="ctr" indent="0" marL="0">
              <a:buNone/>
            </a:pPr>
            <a:r>
              <a:rPr lang="en-US" sz="90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90%</a:t>
            </a:r>
            <a:pPr algn="ctr"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 는 읽지 않습니다.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200400" y="5349240"/>
            <a:ext cx="576072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864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국내 주요 앱 처리방침 평균 분량 · 정독 시 약 20분 소요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8521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이용자는 무엇에 동의하는지 모른 채 정보주체 권리가 침해됩니다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02  │  솔루션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URL 하나로 처리방침 분석 → 5가지 정보를 즉시 제공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240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3줄 요약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긴 처리방침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핵심 압축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2240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417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위험 조항 하이라이트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920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원문 근거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자동 추출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417320"/>
            <a:ext cx="2240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417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1500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0~100점 위험도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920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5영역 25항목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체크리스트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1417320"/>
            <a:ext cx="2240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1417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467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권리 행사 가이드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1920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5대 권리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원스톱 안내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84080" y="1417320"/>
            <a:ext cx="2240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84080" y="1417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3784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변경 알림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12680" y="1920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처리방침 변경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자동 감지</a:t>
            </a:r>
            <a:endParaRPr lang="en-US" sz="1000" dirty="0"/>
          </a:p>
        </p:txBody>
      </p:sp>
      <p:pic>
        <p:nvPicPr>
          <p:cNvPr id="31" name="Image 0" descr="/sessions/quirky-serene-hawking/mnt/기타/demo_mockup_horizon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2880360"/>
            <a:ext cx="8503920" cy="324612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6263640"/>
            <a:ext cx="10972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카카오톡 처리방침 분석 예시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" y="65105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44점 / 주의 · B2 +7 · A3 +5 · D5 +4 · 원문 근거 100% 첨부 (21/21)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03  │  이 표를 기준으로 평가했습니다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5영역 × 25항목 × 7개 서비스 — 175셀 채점 결과</a:t>
            </a:r>
            <a:endParaRPr lang="en-US" sz="2400" dirty="0"/>
          </a:p>
        </p:txBody>
      </p:sp>
      <p:pic>
        <p:nvPicPr>
          <p:cNvPr id="6" name="Image 0" descr="/sessions/quirky-serene-hawking/mnt/기타/excel_sheets/q1_A영역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749808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280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A 영역 부분 확대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14630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4630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0" y="15544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696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5개 영역 × 5항목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6968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총 25개 세부 평가항목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flipV="1">
            <a:off x="1371600" y="1847088"/>
            <a:ext cx="6858000" cy="347472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325880" y="214884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23774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23774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4688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6968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단계형 점수 룰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69680" y="2788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(누적/배타) 사전 정의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40480" y="2194560"/>
            <a:ext cx="4389120" cy="566928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794760" y="214884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32918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32918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33832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86968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법조항 매핑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86968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개인정보보호법 §15~§37의2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0" y="2194560"/>
            <a:ext cx="3200400" cy="1481328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4983480" y="214884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29600" y="42062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29600" y="42062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12480" y="42976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869680" y="4297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7개 서비스 채점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86968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= 175셀 직접 채점 완료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858000" y="2194560"/>
            <a:ext cx="1371600" cy="2395728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6812280" y="214884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74320" y="5989320"/>
            <a:ext cx="1161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표 전체를 읽어달라는 게 아닙니다 — 모든 셀을 같은 기준으로 채점했다는 증거입니다.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04  │  세부항목과 영역별 배점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5개 영역, 25개 세부항목, 100점 — 위험도를 세 기준으로 나눕니다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1155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10972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위험도 분류 3대 기준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정보가 얼마나 수집되는가  ②  수집된 정보가 외부로 이동·목적 외 활용되는가  ③ 사용자가 사후에 통제할 수 있는가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6400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정보 수집 범위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25점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민감정보·자동수집·동의분리·취약계층  ·  5개 항목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72968"/>
            <a:ext cx="6400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72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172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정보 활용·제공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31729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25점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32186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마케팅·제3자제공·목적외이용·위탁·국외이전  ·  5개 항목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6400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398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7398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보유·파기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7398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78561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탈퇴후보유·법정보관·파기절차·백업·휴면  ·  5개 항목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306824"/>
            <a:ext cx="640080" cy="457200"/>
          </a:xfrm>
          <a:prstGeom prst="rect">
            <a:avLst/>
          </a:prstGeom>
          <a:solidFill>
            <a:srgbClr val="FCE7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068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3068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정보주체 권리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06240" y="43068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15점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49240" y="43525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열람·정정·삭제·정지·자동화결정  ·  5개 항목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873752"/>
            <a:ext cx="64008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737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17320" y="48737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처리방침 투명성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06240" y="4873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20점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49240" y="4919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구조·가독성·변경이력·책임자·요약  ·  5개 항목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486400"/>
            <a:ext cx="111556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732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합계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06240" y="5486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100점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49240" y="5486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0~24 안전 · 25~49 주의 · 50~74 위험 · 75+ 매우위험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583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근거: 개인정보보호법 §15·§17·§21·§23·§30·§37의2 + 처리방침 평가 고시 + KISA 작성지침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05  │  A·B 영역 단계형 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수집과 활용·제공이 침해 발생 1차 노출 지점 — 각 25점 (총 50점)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6692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A. 정보 수집 범위 (25점)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486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과도한 수집 (6점)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4086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핵심기능 무관 항목당 +2 / 동의 강제 +2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5486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5292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8529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민감·고유식별정보 (7점)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8211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위치·행동 +2 / 건강·생체 +3 / 주민번호 +4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5486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9417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694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자동수집 범위 (5점)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IP·쿠키·기기·위치·행태로그 항목당 +1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535424"/>
            <a:ext cx="5486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354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5354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필수·선택 분리 (4점)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86460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분리 명확 0 / 모호 +2 / 사실상 강제 +4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376672"/>
            <a:ext cx="5486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766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53766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취약계층 정보 (3점)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70585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14세 미만 수집 +2 / 법정대리인 절차 미흡 +1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141732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417320"/>
            <a:ext cx="56692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B. 정보 활용·제공 (25점)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2011680"/>
            <a:ext cx="54864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0116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2011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마케팅·광고 활용 (5점)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34086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활용 없음 0 / 선택 동의 +2 / 사실상 필수 +5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2852928"/>
            <a:ext cx="54864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85292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28529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제3자 제공 대상·범위 (7점)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318211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제공 +3 / 광고·제휴 +2 / 포괄 표현 +1 / 항목 불명확 +1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694176"/>
            <a:ext cx="54864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69417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3694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목적 외 이용 (4점)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40233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포괄 문구 +2 / 추상적 표현 +1 / 별도 동의 X +1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4535424"/>
            <a:ext cx="54864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5354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5354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처리위탁 명확성 (4점)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92240" y="486460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위탁업체 5+ +2 / 업무 모호 +1 / 재위탁 +1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5376672"/>
            <a:ext cx="54864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53766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B5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32320" y="53766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국외 이전 (5점)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92240" y="570585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이전 없음 0 / 명시 +3 / 미명시 +5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6583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법적 근거: A는 §15·§22·§23·§24, B는 §17·§18·§26·§28의8 매핑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06  │  C·D·E 영역 단계형 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사후 통제와 투명성 — C 15점 + D 15점 + E 20점 (총 50점)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033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C. 보유·파기 (15점)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9436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C1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탈퇴 후 보유 기간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단계형 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즉시 파기  ·  0점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1년 미만  ·  +1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1~3년  ·  +2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3~5년  ·  +3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5년+  ·  +4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+ 항목 불명확  ·  +1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417320"/>
            <a:ext cx="37033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417320"/>
            <a:ext cx="37033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D. 정보주체 권리 (15점)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057400"/>
            <a:ext cx="594360" cy="320040"/>
          </a:xfrm>
          <a:prstGeom prst="rect">
            <a:avLst/>
          </a:prstGeom>
          <a:solidFill>
            <a:srgbClr val="FCE7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0574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D5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자동화 결정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단계형 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안내 없음  ·  +2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거부권 절차 부족  ·  +1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설명 요구 절차 부족  ·  +1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최대 4점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1417320"/>
            <a:ext cx="37033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1417320"/>
            <a:ext cx="37033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E. 처리방침 투명성 (20점)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2057400"/>
            <a:ext cx="594360" cy="320040"/>
          </a:xfrm>
          <a:prstGeom prst="rect">
            <a:avLst/>
          </a:prstGeom>
          <a:solidFill>
            <a:srgbClr val="E0E7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20574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E3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8972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변경 이력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0392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단계형 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개정일 미표시  ·  +2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변경 내역 미공개  ·  +1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0392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이전 버전 미제공  ·  +1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최대 4점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 3개는 대표 예시 · 25개 전 항목 모두 XLSX에 단계형 룰 정의 완료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07  │  점수는 어떻게 산정되는가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원문 조항 → 평가항목 매핑 → 단계형 룰 적용 → 최종 점수</a:t>
            </a:r>
            <a:endParaRPr lang="en-US" sz="2400" dirty="0"/>
          </a:p>
        </p:txBody>
      </p:sp>
      <p:pic>
        <p:nvPicPr>
          <p:cNvPr id="6" name="Image 0" descr="/sessions/quirky-serene-hawking/mnt/기타/excel_sheets/q4_예시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749808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280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첫 예시 부분 확대 (총 5개 사례 중 1번)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146304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463040"/>
            <a:ext cx="36576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 원문 조항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처리방침의 한 문장 추출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0" y="224028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2240280"/>
            <a:ext cx="36576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 탐지 항목 매핑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자동수집 / 광고 / 포괄 표현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301752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3017520"/>
            <a:ext cx="36576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 평가 코드 부여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A3 / B1 / B3 (단계형 룰 적용)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0" y="379476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3794760"/>
            <a:ext cx="36576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④  점수 합산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0" y="4114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+3 +2 +2 = 10점 (LLM 인상 X)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29600" y="4709160"/>
            <a:ext cx="37490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0" y="4754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합계 </a:t>
            </a:r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10</a:t>
            </a:r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 점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29600" y="5120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LLM 인상 아닌 룰의 합산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 flipV="1">
            <a:off x="6858000" y="1645920"/>
            <a:ext cx="1371600" cy="228600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274320" y="5989320"/>
            <a:ext cx="1161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25개 항목 모두 동일한 방식 — 모든 점수에 원문 근거 첨부 (근거 표시율 100%)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08  │  7개 서비스 적용 결과 — 변별력 입증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당근 20점 → 인스타 71점 (분산 51점) · 평가체계가 서비스별 차이를 잡아냅니다</a:t>
            </a:r>
            <a:endParaRPr lang="en-US" sz="2400" dirty="0"/>
          </a:p>
        </p:txBody>
      </p:sp>
      <p:pic>
        <p:nvPicPr>
          <p:cNvPr id="6" name="Image 0" descr="/sessions/quirky-serene-hawking/mnt/기타/excel_sheets/q2_점수분포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74980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280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7개 서비스 점수 분포 부분 확대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14630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4630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최저 → 최고 분산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51점 (20→71)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24160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변별력 확보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0" y="23774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23774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안전 등급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1팀 / 14.3%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2416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당근마켓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32918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2918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주의 등급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5팀 / 71.4%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42416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다수 서비스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0" y="42062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4206240"/>
            <a:ext cx="36576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위험 등급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12480" y="4526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1팀 / 14.3%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424160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인스타그램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5989320"/>
            <a:ext cx="1161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위법성 판정 X — 공개 처리방침 문서상 고지 위험 신호의 정도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09  │  검증 지표 — 파일럿 재현성 검증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정탐률 86.7% · 오탐률 13.3% · 근거 표시율 100% · 평가자 일치율 96%</a:t>
            </a:r>
            <a:endParaRPr lang="en-US" sz="2400" dirty="0"/>
          </a:p>
        </p:txBody>
      </p:sp>
      <p:pic>
        <p:nvPicPr>
          <p:cNvPr id="6" name="Image 0" descr="/sessions/quirky-serene-hawking/mnt/기타/excel_sheets/q3_검증지표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74980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280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· 검증 지표 5개 부분 확대 (모두 통과)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146304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463040"/>
            <a:ext cx="36576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86.7%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01268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정탐률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1268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30개 中 26개 탐지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0" y="242316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2423160"/>
            <a:ext cx="36576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514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13.3%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001268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오탐률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1268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30개 中 4개 과탐지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29600" y="338328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383280"/>
            <a:ext cx="36576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100%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001268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근거 표시율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12680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21/21 전건 첨부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29600" y="434340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4343400"/>
            <a:ext cx="36576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4434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96%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001268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평가자 일치율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12680" y="4754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허용오차 1점 기준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5989320"/>
            <a:ext cx="1161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7개 서비스 위험 후보 조항 30건 · 팀 2인 독립 라벨링 · 처리시간 평균 7.2초 / p95 9.8초 · 파일럿 재현성 검증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검증 산식: 7개 서비스 위험 후보 조항 30건 · 팀 2인 독립 라벨링 · 96%는 허용오차 1점 반영 파일럿 재현성 지표 · 평균 처리시간 7.2초 / p95 9.8초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37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spc="200" kern="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INC0GNITO 2026  ·  부천시 붉은악마  ·  PrivacyScan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10  │  신뢰성 보장 구조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Rule + LLM 이중 검증 + 개인정보 비전송 +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Rule-based 1차 필터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KISA 위험 키워드 사전 정의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463040"/>
            <a:ext cx="36576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55448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LLM 2차 의미 분석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변형 표현·우회 문구 보완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14630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463040"/>
            <a:ext cx="36576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55448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2396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단계형 룰 점수화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환각 영향 X, 기계적 산식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91840"/>
            <a:ext cx="114300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PrivacyScan 자체의 개인정보 보호 원칙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①  공개 문서만 처리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처리방침은 누구나 접근 가능. 사용자 개인 데이터·로그인 정보 입력 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②  사용자 식별 분리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전송 시 IP·계정·쿠키 미포함. URL 기반 익명 분석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③  온디바이스 옵션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민감 환경 sLLM 로컬 추론 + 외부 전송 없는 폐쇄망 모드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1143000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532120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577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면책 (Disclaimer)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PrivacyScan은 법적 자문을 대체하지 않습니다. KISA 가이드라인 기반 1차 필터링 도구이며, 결과는 법적 효력 없는 참고 지표입니다.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583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위험은 위법이 아닌 "공개 처리방침 문서상 고지 위험 신호"입니다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저희의 핵심은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AI 요약 앱이 아니라,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법적 기준 기반 25개 체크리스트로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반복 가능하게 점수화하는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평가체계</a:t>
            </a:r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 입니다.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사용자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는 읽지 않아도 핵심 위험을 이해하고,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017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기업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은 점수를 낮추기 위해 자발적으로 처리방침을 개선하며,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9437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공공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은 대규모 처리방침 모니터링 지표로 활용할 수 있습니다.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부천시 붉은악마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김주환 · 정인겸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spc="600" kern="0" dirty="0">
                <a:solidFill>
                  <a:srgbClr val="DC2626"/>
                </a:solidFill>
                <a:latin typeface="Freesentation" pitchFamily="34" charset="0"/>
                <a:ea typeface="Freesentation" pitchFamily="34" charset="-122"/>
                <a:cs typeface="Freesentation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PrivacyScan - 평가체계 중심</dc:title>
  <dc:subject>PptxGenJS Presentation</dc:subject>
  <dc:creator>부천시 붉은악마</dc:creator>
  <cp:lastModifiedBy>부천시 붉은악마</cp:lastModifiedBy>
  <cp:revision>1</cp:revision>
  <dcterms:created xsi:type="dcterms:W3CDTF">2026-05-08T06:02:09Z</dcterms:created>
  <dcterms:modified xsi:type="dcterms:W3CDTF">2026-05-08T06:02:09Z</dcterms:modified>
</cp:coreProperties>
</file>